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VTX Supply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bubble3D val="0"/>
            <c:spPr>
              <a:solidFill>
                <a:srgbClr val="7B2FBE"/>
              </a:solidFill>
              <a:effectLst/>
            </c:spPr>
          </c:dPt>
          <c:dPt>
            <c:idx val="2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bubble3D val="0"/>
            <c:spPr>
              <a:solidFill>
                <a:srgbClr val="4488FF"/>
              </a:solidFill>
              <a:effectLst/>
            </c:spPr>
          </c:dPt>
          <c:dPt>
            <c:idx val="4"/>
            <c:bubble3D val="0"/>
            <c:spPr>
              <a:solidFill>
                <a:srgbClr val="FF6B6B"/>
              </a:solidFill>
              <a:effectLst/>
            </c:spPr>
          </c:dPt>
          <c:dPt>
            <c:idx val="5"/>
            <c:bubble3D val="0"/>
            <c:spPr>
              <a:solidFill>
                <a:srgbClr val="44BB88"/>
              </a:solidFill>
              <a:effectLst/>
            </c:spPr>
          </c:dPt>
          <c:dPt>
            <c:idx val="6"/>
            <c:bubble3D val="0"/>
            <c:spPr>
              <a:solidFill>
                <a:srgbClr val="FFAA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Comunidade 35%</c:v>
                </c:pt>
                <c:pt idx="1">
                  <c:v>Equipe 18%</c:v>
                </c:pt>
                <c:pt idx="2">
                  <c:v>Tesouro 20%</c:v>
                </c:pt>
                <c:pt idx="3">
                  <c:v>Seed 8%</c:v>
                </c:pt>
                <c:pt idx="4">
                  <c:v>Serie A 7%</c:v>
                </c:pt>
                <c:pt idx="5">
                  <c:v>Liquidez 7%</c:v>
                </c:pt>
                <c:pt idx="6">
                  <c:v>Airdrop 5%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35</c:v>
                </c:pt>
                <c:pt idx="1">
                  <c:v>18</c:v>
                </c:pt>
                <c:pt idx="2">
                  <c:v>20</c:v>
                </c:pt>
                <c:pt idx="3">
                  <c:v>8</c:v>
                </c:pt>
                <c:pt idx="4">
                  <c:v>7</c:v>
                </c:pt>
                <c:pt idx="5">
                  <c:v>7</c:v>
                </c:pt>
                <c:pt idx="6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Fee Mensal (USD)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2FB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Conservador</c:v>
                  </c:pt>
                  <c:pt idx="1">
                    <c:v>Base</c:v>
                  </c:pt>
                  <c:pt idx="2">
                    <c:v>Otimista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25000</c:v>
                </c:pt>
                <c:pt idx="1">
                  <c:v>250000</c:v>
                </c:pt>
                <c:pt idx="2">
                  <c:v>1000000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98080" y="457200"/>
            <a:ext cx="2560320" cy="2560320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0058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TRAVERSE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11480" y="2423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liquidez em um único fluxo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3017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TRV Protocol  —  Investor Presentation  —  Junho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Liquidez em DeFi está fragmentada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11887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3533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 Blockchains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Centenas de DEXs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comunicação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383280" y="13533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$150B+ TVL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Disperso e inacessível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um único ponto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1887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172200" y="1188720"/>
            <a:ext cx="265176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09360" y="13533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3–8% Slippage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9360" y="21488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paga caro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fragmentação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precisa de pontes manuais, múltiplas carteiras e sofre execução ruim.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mercado de $2.4 Trilhões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$150B+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TVL em DeFi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280160"/>
            <a:ext cx="2560320" cy="2194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9184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91840" y="2514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DEX Anual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280160"/>
            <a:ext cx="2560320" cy="21945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03504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035040" y="2514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Cross-Chain 2022–2025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931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cross-chain cresce 4x mais rápido que o DeFi single-chain.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Traverse: Um Fluxo. Qualquer Chain.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14300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20040" y="1143000"/>
            <a:ext cx="64008" cy="14630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Intent-Based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declara o que quer, não como fazer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114300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800600" y="1143000"/>
            <a:ext cx="64008" cy="14630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8348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Solver Auction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7373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Competição garante melhor execução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20040" y="2834640"/>
            <a:ext cx="64008" cy="14630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2926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Cross-Chain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429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token, qualquer rede, um fluxo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28346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800600" y="2834640"/>
            <a:ext cx="64008" cy="14630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983480" y="2926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Custódia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3429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verificáveis, sem intermediários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Fluxo de Execução em 4 Passos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83464" y="960120"/>
            <a:ext cx="1828800" cy="2651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29184" y="10698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" y="1527048"/>
            <a:ext cx="168249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Submete intent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assinado (EIP-712):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 X token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chain 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76856" y="2231136"/>
            <a:ext cx="256032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32888" y="960120"/>
            <a:ext cx="1828800" cy="2651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578608" y="10698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LEILÃO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1527048"/>
            <a:ext cx="168249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Solvers competem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oferecendo melhor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2231136"/>
            <a:ext cx="256032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782312" y="960120"/>
            <a:ext cx="1828800" cy="26517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28032" y="10698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55464" y="1527048"/>
            <a:ext cx="168249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Vencedor executa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atomicamente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75704" y="2231136"/>
            <a:ext cx="256032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031736" y="960120"/>
            <a:ext cx="1828800" cy="2651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77456" y="10698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04888" y="1527048"/>
            <a:ext cx="168249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tokens na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 destino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8404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Solvers precisam de stake em TRV. Má execução = slashing.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Técnica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51560"/>
            <a:ext cx="4114800" cy="3657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EIP-712: Intents assinados e verificáveis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Auction: Leilão de execução decrescente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Registry: Registro com stake mínimo (10k TRV)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Settlement: Entrega atômica cross-chain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 + Timelock: Governança on-chain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846320" y="1005840"/>
            <a:ext cx="3931920" cy="1005840"/>
          </a:xfrm>
          <a:prstGeom prst="rect">
            <a:avLst/>
          </a:prstGeom>
          <a:solidFill>
            <a:srgbClr val="0A0E1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10912" y="1097280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TraverseRouter.sol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10912" y="1527048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+ Settlement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2267712"/>
            <a:ext cx="3931920" cy="1005840"/>
          </a:xfrm>
          <a:prstGeom prst="rect">
            <a:avLst/>
          </a:prstGeom>
          <a:solidFill>
            <a:srgbClr val="0A0E1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10912" y="235915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TraverseStaking.sol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10912" y="2788920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registration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3529584"/>
            <a:ext cx="3931920" cy="1005840"/>
          </a:xfrm>
          <a:prstGeom prst="rect">
            <a:avLst/>
          </a:prstGeom>
          <a:solidFill>
            <a:srgbClr val="0A0E1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10912" y="3621024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TraverseGovernor.sol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10912" y="405079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governance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Agora? Por Que Traverse?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34440"/>
                <a:gridCol w="1234440"/>
                <a:gridCol w="1234440"/>
                <a:gridCol w="1234440"/>
                <a:gridCol w="12344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1inch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Jupiter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Cross-chain nativo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8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 competition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8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8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Multi-chain launch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8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sharing TRV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TRV — Utilidade Real, Não Decoração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1188" y="118872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1188" y="1188720"/>
            <a:ext cx="192024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2628" y="135331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2628" y="1901952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TRV mínimo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solver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Colateral contra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 execução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28316" y="118872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528316" y="1188720"/>
            <a:ext cx="192024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619756" y="135331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GOVERNANÇA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19756" y="1901952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TRV = 1 voto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fee,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tesouro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95444" y="118872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95444" y="1188720"/>
            <a:ext cx="192024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86884" y="135331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DESCONTO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86884" y="1901952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40% off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fees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por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holdada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62572" y="118872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862572" y="1188720"/>
            <a:ext cx="192024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54012" y="135331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54012" y="1901952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das fees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stakers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APY real proporcional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volume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Distribuição do Supply — 1 Bilhão TRV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91440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577840" y="1371600"/>
            <a:ext cx="32004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5669280" y="1408176"/>
            <a:ext cx="3017520" cy="58521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fixo: 1B TRV, sem mint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577840" y="2286000"/>
            <a:ext cx="3200400" cy="65836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669280" y="2322576"/>
            <a:ext cx="3017520" cy="58521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cliff 12m + vesting 36m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77840" y="3200400"/>
            <a:ext cx="3200400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669280" y="3236976"/>
            <a:ext cx="3017520" cy="58521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travado em contrato por 12 meses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Econômico Sustentável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777240"/>
          <a:ext cx="53035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74720"/>
          <a:ext cx="8595360" cy="9144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Volume/mês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(0.05%)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Stakers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APY Est.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4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Projeções ilustrativas. Não constituem promessa de retorno.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2026–2027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423160"/>
            <a:ext cx="8229600" cy="5486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34340" y="1188720"/>
            <a:ext cx="1828800" cy="2651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11580" y="2304288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7492" y="129844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492" y="1783080"/>
            <a:ext cx="16824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pública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83180" y="1188720"/>
            <a:ext cx="1828800" cy="2651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60420" y="2304288"/>
            <a:ext cx="274320" cy="2743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656332" y="129844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6332" y="1783080"/>
            <a:ext cx="16824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Base+Arbitrum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 launch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Airdrop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32020" y="1188720"/>
            <a:ext cx="1828800" cy="26517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509260" y="2304288"/>
            <a:ext cx="274320" cy="27432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05172" y="129844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Q1–Q2 2027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5172" y="1783080"/>
            <a:ext cx="16824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+ BSC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$100M+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SDK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80860" y="1188720"/>
            <a:ext cx="1828800" cy="2651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658100" y="2304288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954012" y="129844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Q3–Q4 2027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54012" y="1783080"/>
            <a:ext cx="16824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Listagens CEX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global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Segurança Não É Opcional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5840" y="1051560"/>
            <a:ext cx="777240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0E8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3000" y="106984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independente por firma tier-1 antes da mainnet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0136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1801368"/>
            <a:ext cx="7772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43000" y="181965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Multisig Safe em todos os contratos críticos (4/7)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51176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5760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2551176"/>
            <a:ext cx="777240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0E8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43000" y="256946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Timelock 48h em todas as mudanças de protocolo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00984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6576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5840" y="3300984"/>
            <a:ext cx="7772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43000" y="331927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bounty $500K+ no Immunefi pós-launch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05079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5840" y="4050792"/>
            <a:ext cx="777240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0E8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143000" y="40690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verificados e open-source (Basescan/Arbiscan)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4612" y="1188720"/>
            <a:ext cx="1965960" cy="3063240"/>
          </a:xfrm>
          <a:prstGeom prst="rect">
            <a:avLst/>
          </a:prstGeom>
          <a:solidFill>
            <a:srgbClr val="1A1A3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96112" y="1371600"/>
            <a:ext cx="822960" cy="8229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96112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6052" y="23591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 Martins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6052" y="28346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6052" y="331012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Ex-Uniswap Labs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anos DeFi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00884" y="1188720"/>
            <a:ext cx="1965960" cy="3063240"/>
          </a:xfrm>
          <a:prstGeom prst="rect">
            <a:avLst/>
          </a:prstGeom>
          <a:solidFill>
            <a:srgbClr val="1A1A3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072384" y="1371600"/>
            <a:ext cx="822960" cy="8229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72384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92324" y="23591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Sara Chen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92324" y="28346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Co-Founder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92324" y="331012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Ex-Chainlink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Lead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77156" y="1188720"/>
            <a:ext cx="1965960" cy="3063240"/>
          </a:xfrm>
          <a:prstGeom prst="rect">
            <a:avLst/>
          </a:prstGeom>
          <a:solidFill>
            <a:srgbClr val="1A1A3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248656" y="1371600"/>
            <a:ext cx="822960" cy="8229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248656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68596" y="23591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Marcus Reid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68596" y="28346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Research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68596" y="331012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Ex-Jump Crypto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 &amp; Auctions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3428" y="1188720"/>
            <a:ext cx="1965960" cy="3063240"/>
          </a:xfrm>
          <a:prstGeom prst="rect">
            <a:avLst/>
          </a:prstGeom>
          <a:solidFill>
            <a:srgbClr val="1A1A3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424928" y="1371600"/>
            <a:ext cx="822960" cy="8229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424928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44868" y="23591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Julia Park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4868" y="28346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Growth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4868" y="331012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Ex-Binance Labs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DeFi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Rodada Seed — $3M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114800" cy="3749040"/>
          </a:xfrm>
          <a:prstGeom prst="rect">
            <a:avLst/>
          </a:prstGeom>
          <a:solidFill>
            <a:srgbClr val="F4F8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115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Uso dos Recursos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502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6642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6824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técnico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31136"/>
            <a:ext cx="502920" cy="3840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22311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2494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de segurança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98064"/>
            <a:ext cx="50292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27980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8163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inicial DEX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502920" cy="384048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33649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383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 compliance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502920" cy="384048"/>
          </a:xfrm>
          <a:prstGeom prst="rect">
            <a:avLst/>
          </a:prstGeom>
          <a:solidFill>
            <a:srgbClr val="44BB88"/>
          </a:solidFill>
          <a:ln w="12700">
            <a:solidFill>
              <a:srgbClr val="44BB8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39319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9502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4114800" cy="3749040"/>
          </a:xfrm>
          <a:prstGeom prst="rect">
            <a:avLst/>
          </a:prstGeom>
          <a:solidFill>
            <a:srgbClr val="0A0E1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46320" y="1115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Termos da Rodada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1664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definir com investidores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2311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22311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Token Warrant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7980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Cliff/Vesting: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27980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 cliff | 18m vesting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3649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investor: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33649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Q3 2026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114800" cy="4114800"/>
          </a:xfrm>
          <a:prstGeom prst="ellipse">
            <a:avLst/>
          </a:prstGeom>
          <a:solidFill>
            <a:srgbClr val="7B2FBE">
              <a:alpha val="25000"/>
            </a:srgbClr>
          </a:solidFill>
          <a:ln w="12700">
            <a:solidFill>
              <a:srgbClr val="7B2FB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583680" y="2286000"/>
            <a:ext cx="3657600" cy="3657600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 troca. Toda chain. Um protocolo.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Traverse Protocol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347472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traverseprotocol.io  |  hello@traverseprotocol.io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Aviso Legal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material é para fins informativos exclusivamente e não constitui oferta de valores mobiliários, conselho de investimento, financeiro ou jurídico. Tokens TRV representam direitos de utilidade e governança dentro do protocolo Traverse. Investimentos em ativos digitais envolvem riscos substanciais incluindo perda total do capital investido. Projeções e estimativas são ilustrativas e não garantem qualquer retorno. Consulte assessores jurídicos e financeiros qualificados antes de tomar qualquer decisão de investimento. Este documento não foi registrado em nenhuma autoridade regulatória.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2026-06-22T15:04:59Z</dcterms:created>
  <dcterms:modified xsi:type="dcterms:W3CDTF">2026-06-22T15:04:59Z</dcterms:modified>
</cp:coreProperties>
</file>